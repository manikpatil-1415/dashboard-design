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2903166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2903166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b2903166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b2903166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b2903166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b2903166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2903166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b2903166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29031663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29031663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1213475" y="0"/>
            <a:ext cx="793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GLOBAL FINANCE &amp; SALES PERFORMANCE DASHBOARD</a:t>
            </a:r>
            <a:endParaRPr b="1" sz="2500">
              <a:solidFill>
                <a:schemeClr val="dk2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213475" y="477000"/>
            <a:ext cx="6968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2"/>
                </a:solidFill>
              </a:rPr>
              <a:t>Task 3 – Dashboard Design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2"/>
                </a:solidFill>
              </a:rPr>
              <a:t>Power BI | Data Analytics Internship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2"/>
                </a:solidFill>
              </a:rPr>
              <a:t>Prepared by: Manik Patil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PERFORMANCE INDICATORS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8414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418"/>
              <a:t>Total Revenue: 318M</a:t>
            </a:r>
            <a:endParaRPr sz="1418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1418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418"/>
              <a:t>Total COGS: 149</a:t>
            </a:r>
            <a:r>
              <a:rPr lang="en" sz="1418"/>
              <a:t>M</a:t>
            </a:r>
            <a:endParaRPr sz="1418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1418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418"/>
              <a:t>Total Profit: 169M</a:t>
            </a:r>
            <a:endParaRPr sz="1418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1418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418"/>
              <a:t>Profit Margin: 53.23%</a:t>
            </a:r>
            <a:endParaRPr sz="1418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41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&amp; SALES TRENDS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023"/>
              <a:t>• Revenue shows noticeable month-to-month fluctuations.</a:t>
            </a:r>
            <a:endParaRPr sz="10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10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023"/>
              <a:t>• Highest revenue levels were observed around March and July.</a:t>
            </a:r>
            <a:endParaRPr sz="10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10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023"/>
              <a:t>• Revenue dropped significantly in April and October.</a:t>
            </a:r>
            <a:endParaRPr sz="10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10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023"/>
              <a:t>• Partner and Online channels generated the highest revenue, while Direct was slightly lower.</a:t>
            </a:r>
            <a:endParaRPr sz="10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10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023"/>
              <a:t>• The dashboard allows users to explore these trends using Region, Product Category and Date filters.</a:t>
            </a:r>
            <a:endParaRPr sz="10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023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CATEGORY PERFORMANCE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123"/>
              <a:t>• Enterprise Software has the highest profit among the product categories.</a:t>
            </a:r>
            <a:endParaRPr sz="11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11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123"/>
              <a:t>• Consulting and Cloud Services show similar profit levels.</a:t>
            </a:r>
            <a:endParaRPr sz="11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11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123"/>
              <a:t>• Hardware has the lowest profit among the four categories.</a:t>
            </a:r>
            <a:endParaRPr sz="11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11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123"/>
              <a:t>• The category comparison helps identify which product areas contribute most to overall profitability.</a:t>
            </a:r>
            <a:endParaRPr sz="11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11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123"/>
              <a:t>• Product Category can be filtered interactively in the Power BI dashboard.AA</a:t>
            </a:r>
            <a:endParaRPr sz="112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123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0075" lIns="90075" spcFirstLastPara="1" rIns="90075" wrap="square" tIns="900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61"/>
              <a:t>KEY INSIGHTS &amp; BUSINESS RECOMMENDATIONS</a:t>
            </a:r>
            <a:endParaRPr sz="2561"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100" y="535200"/>
            <a:ext cx="9144000" cy="5143500"/>
          </a:xfrm>
          <a:prstGeom prst="rect">
            <a:avLst/>
          </a:prstGeom>
        </p:spPr>
        <p:txBody>
          <a:bodyPr anchorCtr="0" anchor="t" bIns="90075" lIns="90075" spcFirstLastPara="1" rIns="90075" wrap="square" tIns="90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9"/>
              <a:t>KEY INSIGHTS</a:t>
            </a:r>
            <a:endParaRPr sz="1379"/>
          </a:p>
          <a:p>
            <a:pPr indent="0" lvl="0" marL="0" rtl="0" algn="l">
              <a:spcBef>
                <a:spcPts val="118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9"/>
              <a:t>• Total Revenue is 318M with Total Profit of 169M.</a:t>
            </a:r>
            <a:endParaRPr sz="1379"/>
          </a:p>
          <a:p>
            <a:pPr indent="0" lvl="0" marL="0" rtl="0" algn="l">
              <a:spcBef>
                <a:spcPts val="118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9"/>
              <a:t>• Profit Margin is 53.23%, indicating strong overall profitability.</a:t>
            </a:r>
            <a:endParaRPr sz="1379"/>
          </a:p>
          <a:p>
            <a:pPr indent="0" lvl="0" marL="0" rtl="0" algn="l">
              <a:spcBef>
                <a:spcPts val="118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9"/>
              <a:t>• Enterprise Software contributes the highest profit among the product categories.</a:t>
            </a:r>
            <a:endParaRPr sz="1379"/>
          </a:p>
          <a:p>
            <a:pPr indent="0" lvl="0" marL="0" rtl="0" algn="l">
              <a:spcBef>
                <a:spcPts val="118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9"/>
              <a:t>• Revenue varies considerably across the months.</a:t>
            </a:r>
            <a:endParaRPr sz="1379"/>
          </a:p>
          <a:p>
            <a:pPr indent="0" lvl="0" marL="0" rtl="0" algn="l">
              <a:spcBef>
                <a:spcPts val="118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9"/>
              <a:t>• Partner and Online channels have slightly higher revenue than Direct.</a:t>
            </a:r>
            <a:endParaRPr sz="1379"/>
          </a:p>
          <a:p>
            <a:pPr indent="0" lvl="0" marL="0" rtl="0" algn="l">
              <a:spcBef>
                <a:spcPts val="118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79"/>
          </a:p>
          <a:p>
            <a:pPr indent="0" lvl="0" marL="0" rtl="0" algn="l">
              <a:spcBef>
                <a:spcPts val="118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9"/>
              <a:t>RECOMMENDATIONS</a:t>
            </a:r>
            <a:endParaRPr sz="1379"/>
          </a:p>
          <a:p>
            <a:pPr indent="0" lvl="0" marL="0" rtl="0" algn="l">
              <a:spcBef>
                <a:spcPts val="118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9"/>
              <a:t>• Focus on high-performing Enterprise Software products.</a:t>
            </a:r>
            <a:endParaRPr sz="1379"/>
          </a:p>
          <a:p>
            <a:pPr indent="0" lvl="0" marL="0" rtl="0" algn="l">
              <a:spcBef>
                <a:spcPts val="118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9"/>
              <a:t>• Investigate the months with significant revenue declines.</a:t>
            </a:r>
            <a:endParaRPr sz="1379"/>
          </a:p>
          <a:p>
            <a:pPr indent="0" lvl="0" marL="0" rtl="0" algn="l">
              <a:spcBef>
                <a:spcPts val="118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9"/>
              <a:t>• Continue strengthening Partner and Online sales channels.</a:t>
            </a:r>
            <a:endParaRPr sz="1379"/>
          </a:p>
          <a:p>
            <a:pPr indent="0" lvl="0" marL="0" rtl="0" algn="l">
              <a:spcBef>
                <a:spcPts val="118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9"/>
              <a:t>• Use Region, Product Category and Date filters to identify performance opportunities.</a:t>
            </a:r>
            <a:endParaRPr sz="1379"/>
          </a:p>
          <a:p>
            <a:pPr indent="0" lvl="0" marL="0" rtl="0" algn="l">
              <a:spcBef>
                <a:spcPts val="1182"/>
              </a:spcBef>
              <a:spcAft>
                <a:spcPts val="1182"/>
              </a:spcAft>
              <a:buNone/>
            </a:pPr>
            <a:r>
              <a:t/>
            </a:r>
            <a:endParaRPr sz="137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 title="Global Finance Sales 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3575"/>
            <a:ext cx="8582025" cy="422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2029225" y="0"/>
            <a:ext cx="64329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POWER BI DASHBOARD PREVIEW</a:t>
            </a:r>
            <a:endParaRPr b="1" sz="20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